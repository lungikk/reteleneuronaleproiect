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AED7-283E-2B99-5AB9-520AEBE32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3A10A-B613-7BBD-1667-8E427642B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61D42-14B3-79BE-7FF2-E68EDCBF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06230-04E6-371E-7040-D7166E59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19640-2917-15E0-8C05-E6F8D497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3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C227D-41A2-DB0F-589F-4DEF2940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81E2B-C17A-D673-0205-BE2C456EC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88B8A-7304-99CC-5B32-8918EDD9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37020-17FD-C942-004F-7FB65FC3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AE953-5438-B3E0-6E67-6FF5F756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6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3853-24A3-0D52-45D6-EE6708491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A5AD0-2034-FA23-B010-4CC5D7B03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A749E-1BA2-B000-6EF5-151A31A1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DA267-CB0F-ED71-E53D-08F3E29C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F7D3E-CBC3-09F8-971B-8BD4F311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3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BACA-9A83-0C65-7DD7-AA44AF7B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1573-303D-C42A-32D7-80ABCA491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2D9BB-39C6-B4E9-FEA7-3AADC9258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3F467-D8D6-82FD-088C-AE50F427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7E63B-00AC-34CD-BAFF-DADD2BAC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460CB-BAC0-625E-7C7F-8E30E1E8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7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9D2F-06E9-B239-F69C-63C2EBD7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E267C-4F56-6AEE-3964-83CA3E45E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E7FDD-CA64-9A8C-C4F2-D0CB3A271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B117E-0441-1A97-2403-81078F631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327F1F-9042-4FE6-5BFC-DA2122FA9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BCEED-D9FB-1042-B7AF-C0C5353C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AE88C7-410B-94F4-E297-1216B5D6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8A52F-A001-7389-F012-F216949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8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77BF-EC7A-32A5-B064-454317AF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1033B-04C1-4768-EEB7-ABEC905B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36887-18D1-BCEE-D177-FA61281E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0AB33-F074-BFEB-9D8C-B4564B41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6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7141C-0852-F22D-6CAE-B0022A76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3ADB9-984D-F7C6-5645-CA3E8FAF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3B4E-E1B5-AA5C-F6E3-B357F11D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8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6B57-4B76-EAA4-B6B6-7F4E7FCA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37A6A-0372-3A72-8738-BCB474226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680D7-570E-5C39-4AE9-8B58FEFBB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D1F3F-4BE3-BDE8-5DD1-A396EDD9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FE4C7-AF05-0A81-E35B-167F37B5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06226-D451-B6B3-0920-DF86D507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E2D2-84B5-64F9-8677-F7432F96A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AC89B-D621-A059-3B87-4B91BFF89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8FEA0-2CB8-B697-4FED-4D71D7A49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00782-351E-1BB8-27B2-CBD4837A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3B7F5-84FD-CABB-320C-2F45119E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2FDDF-FC44-122C-23FC-D8D33C6B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9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BD089-CBFF-9FEE-A506-FE48A810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09164-CEF4-6D5C-57C6-47B552D15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B4EFD-5026-EE45-6BB8-566C474F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90A2E-54D1-A03E-1B94-03D3339C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88411-C944-F292-F50C-F53457A4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6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6E2C9-C9D5-D1EA-8AC1-178B0AD9E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FC09C-113E-0C2D-FA4A-22EBD3378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3C1FB-96A6-5F89-B20C-3EE14908E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6BCC-FFA0-7367-CADE-451F7951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BD8A7-CC46-DC95-1173-DE58D0D8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8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AB915-E3A9-4EF9-618E-1D6ED85A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61BDC-0BC5-8EB9-5730-69024F7E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8EAFC-A325-4326-9988-EBA11FD6C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0F52D-121B-C3D6-7CCB-8CA20BB87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43630-2F35-68D2-D5F3-931131817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ngikk/ReteleNeuronaleProiec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rble with brown and aqua colors">
            <a:extLst>
              <a:ext uri="{FF2B5EF4-FFF2-40B4-BE49-F238E27FC236}">
                <a16:creationId xmlns:a16="http://schemas.microsoft.com/office/drawing/2014/main" id="{798FF5EB-CB49-5FC6-8D1F-134BDBD18D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4492" b="16283"/>
          <a:stretch>
            <a:fillRect/>
          </a:stretch>
        </p:blipFill>
        <p:spPr>
          <a:xfrm>
            <a:off x="-8858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039715-27D3-C0C2-8512-455293BBF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2" y="1794492"/>
            <a:ext cx="10331003" cy="1174283"/>
          </a:xfrm>
        </p:spPr>
        <p:txBody>
          <a:bodyPr anchor="b">
            <a:noAutofit/>
          </a:bodyPr>
          <a:lstStyle/>
          <a:p>
            <a:r>
              <a:rPr lang="en-US" sz="4000" b="1" dirty="0" err="1"/>
              <a:t>Sistem</a:t>
            </a:r>
            <a:r>
              <a:rPr lang="en-US" sz="4000" b="1" dirty="0"/>
              <a:t> Automat de </a:t>
            </a:r>
            <a:r>
              <a:rPr lang="en-US" sz="4000" b="1" dirty="0" err="1"/>
              <a:t>Notare</a:t>
            </a:r>
            <a:r>
              <a:rPr lang="en-US" sz="4000" b="1" dirty="0"/>
              <a:t> (ASAG) cu </a:t>
            </a:r>
            <a:r>
              <a:rPr lang="en-US" sz="4000" b="1" dirty="0" err="1"/>
              <a:t>Retele</a:t>
            </a:r>
            <a:r>
              <a:rPr lang="en-US" sz="4000" b="1" dirty="0"/>
              <a:t> </a:t>
            </a:r>
            <a:r>
              <a:rPr lang="en-US" sz="4000" b="1" dirty="0" err="1"/>
              <a:t>Neuronale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4E557D9-BF2F-724F-AD98-81D3FF37CB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4872" y="3078167"/>
            <a:ext cx="828521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Lungeanu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Andrei-Alexandru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Grupa: 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634AB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Disciplina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Retele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Ianuarie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449363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B5B75-202A-8DED-05A5-44388DBE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Obiectivul Proiectului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C1A33E-64C1-FA06-C68E-3302216B6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Problema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Notarea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manuala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raspunsurilor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deschise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(text liber)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lenta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subiectiva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Solutia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Propusa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AI care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intelege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semantic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raspunsul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studentului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compara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cu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baremul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Target Industrial: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Reducerea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timpului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corectare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Eliminarea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subiectivitatii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umane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Acuratete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&gt; 85%.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21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E118D-FE03-6B9D-8FCF-9114DE53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Setul de Date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3745E0-44E4-3671-A03A-37AD07654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Sursa: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Dataset Mohler (Computer Science)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adaptat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40% </a:t>
            </a:r>
            <a:r>
              <a:rPr kumimoji="0" lang="en-US" altLang="en-US" sz="20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Contributie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Proprie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Total Date: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1.500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observatii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perechi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Student - Barem - Nota).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Augmentare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Am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generat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date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sintetice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parafrazare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sinonime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Am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echilibrat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clasele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avea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suficiente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note de 2.5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4.0).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Split: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70% Train / 15% Validation / 15% Test</a:t>
            </a:r>
          </a:p>
        </p:txBody>
      </p:sp>
    </p:spTree>
    <p:extLst>
      <p:ext uri="{BB962C8B-B14F-4D97-AF65-F5344CB8AC3E}">
        <p14:creationId xmlns:p14="http://schemas.microsoft.com/office/powerpoint/2010/main" val="316814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FF2A6-1FD2-BCE2-544B-186A3C1B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sz="3700" err="1"/>
              <a:t>Arhitectura</a:t>
            </a:r>
            <a:r>
              <a:rPr lang="en-US" sz="3700"/>
              <a:t> </a:t>
            </a:r>
            <a:r>
              <a:rPr lang="en-US" sz="3700" err="1"/>
              <a:t>Sistemului</a:t>
            </a:r>
            <a:r>
              <a:rPr lang="en-US" sz="3700"/>
              <a:t> (State Machine)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6BFA4B-EDD7-4098-7A5A-770AF4EA9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b="1" dirty="0"/>
              <a:t>Flux de date: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b="1" dirty="0"/>
              <a:t>Acquisition:</a:t>
            </a:r>
            <a:r>
              <a:rPr lang="en-US" sz="1400" dirty="0"/>
              <a:t> </a:t>
            </a:r>
            <a:r>
              <a:rPr lang="en-US" sz="1400" dirty="0" err="1"/>
              <a:t>Incarcare</a:t>
            </a:r>
            <a:r>
              <a:rPr lang="en-US" sz="1400" dirty="0"/>
              <a:t> text (Manual </a:t>
            </a:r>
            <a:r>
              <a:rPr lang="en-US" sz="1400" dirty="0" err="1"/>
              <a:t>sau</a:t>
            </a:r>
            <a:r>
              <a:rPr lang="en-US" sz="1400" dirty="0"/>
              <a:t> Batch).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Preprocessing:</a:t>
            </a:r>
            <a:r>
              <a:rPr lang="en-US" sz="1400" dirty="0"/>
              <a:t> </a:t>
            </a:r>
            <a:r>
              <a:rPr lang="en-US" sz="1400" dirty="0" err="1"/>
              <a:t>Curatare</a:t>
            </a:r>
            <a:r>
              <a:rPr lang="en-US" sz="1400" dirty="0"/>
              <a:t> text + </a:t>
            </a:r>
            <a:r>
              <a:rPr lang="en-US" sz="1400" dirty="0" err="1"/>
              <a:t>Vectorizare</a:t>
            </a:r>
            <a:r>
              <a:rPr lang="en-US" sz="1400" dirty="0"/>
              <a:t> TF-IDF.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Inference:</a:t>
            </a:r>
            <a:r>
              <a:rPr lang="en-US" sz="1400" dirty="0"/>
              <a:t> MLP Regressor </a:t>
            </a:r>
            <a:r>
              <a:rPr lang="en-US" sz="1400" dirty="0" err="1"/>
              <a:t>prezice</a:t>
            </a:r>
            <a:r>
              <a:rPr lang="en-US" sz="1400" dirty="0"/>
              <a:t> un </a:t>
            </a:r>
            <a:r>
              <a:rPr lang="en-US" sz="1400" dirty="0" err="1"/>
              <a:t>scor</a:t>
            </a:r>
            <a:r>
              <a:rPr lang="en-US" sz="1400" dirty="0"/>
              <a:t> brut.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Grading:</a:t>
            </a:r>
            <a:r>
              <a:rPr lang="en-US" sz="1400" dirty="0"/>
              <a:t> </a:t>
            </a:r>
            <a:r>
              <a:rPr lang="en-US" sz="1400" dirty="0" err="1"/>
              <a:t>Rotunjire</a:t>
            </a:r>
            <a:r>
              <a:rPr lang="en-US" sz="1400" dirty="0"/>
              <a:t> la </a:t>
            </a:r>
            <a:r>
              <a:rPr lang="en-US" sz="1400" dirty="0" err="1"/>
              <a:t>grila</a:t>
            </a:r>
            <a:r>
              <a:rPr lang="en-US" sz="1400" dirty="0"/>
              <a:t> (0.0, 2.5, 4.0, 5.0).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Reporting:</a:t>
            </a:r>
            <a:r>
              <a:rPr lang="en-US" sz="1400" dirty="0"/>
              <a:t> </a:t>
            </a:r>
            <a:r>
              <a:rPr lang="en-US" sz="1400" dirty="0" err="1"/>
              <a:t>Afisare</a:t>
            </a:r>
            <a:r>
              <a:rPr lang="en-US" sz="1400" dirty="0"/>
              <a:t> </a:t>
            </a:r>
            <a:r>
              <a:rPr lang="en-US" sz="1400" dirty="0" err="1"/>
              <a:t>rezultate</a:t>
            </a:r>
            <a:r>
              <a:rPr lang="en-US" sz="1400" dirty="0"/>
              <a:t> </a:t>
            </a:r>
            <a:r>
              <a:rPr lang="en-US" sz="1400" dirty="0" err="1"/>
              <a:t>colorate</a:t>
            </a:r>
            <a:r>
              <a:rPr lang="en-US" sz="1400" dirty="0"/>
              <a:t> in UI.</a:t>
            </a:r>
          </a:p>
          <a:p>
            <a:endParaRPr lang="en-US" sz="2000" dirty="0"/>
          </a:p>
        </p:txBody>
      </p:sp>
      <p:pic>
        <p:nvPicPr>
          <p:cNvPr id="5" name="Content Placeholder 4" descr="A diagram of a system&#10;&#10;AI-generated content may be incorrect.">
            <a:extLst>
              <a:ext uri="{FF2B5EF4-FFF2-40B4-BE49-F238E27FC236}">
                <a16:creationId xmlns:a16="http://schemas.microsoft.com/office/drawing/2014/main" id="{BAFE952A-6D77-D325-CD30-586E24EA7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152" y="717012"/>
            <a:ext cx="4016565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35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3762B-2ABE-9893-2419-12128987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Modelul Neuronal (Arhitectura MLP)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88C718-2F0D-0B85-3846-46E9C294C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Tip: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Multi-Layer Perceptron (MLPRegressor).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Vectori TF-IDF (1000 features).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Arhitectura Interna: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Hidden Layer 1: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100 neuroni (ReLu).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Hidden Layer 2: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50 neuroni (ReLu) - structura "Funnel".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 neuron (Nota prezisa).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 ce MLP?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Capabil sa invete relatii non-lineare complexe intre cuvinte si note, fiind mult mai rapid decat modelele Transformer complexe.</a:t>
            </a:r>
          </a:p>
        </p:txBody>
      </p:sp>
    </p:spTree>
    <p:extLst>
      <p:ext uri="{BB962C8B-B14F-4D97-AF65-F5344CB8AC3E}">
        <p14:creationId xmlns:p14="http://schemas.microsoft.com/office/powerpoint/2010/main" val="148710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06A95-2FE7-37BE-41A5-0051E901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endParaRPr lang="en-US" dirty="0"/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42859F26-62C7-793F-A3AD-9BAAFA7D2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2018813"/>
            <a:ext cx="4737650" cy="284258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50E12F1-7B71-D86B-1B9D-1A92EC200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650" y="2193925"/>
            <a:ext cx="4438650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SGD cu Learning Rate 'Adaptive'.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Size: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32 (pentru stabilitate).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Mecanism de Siguranta: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Stopping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Antrenarea s-a oprit automat la epoca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118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(din 300 maxim).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Motiv: Prevenirea overfitting-ului (loss-ul pe validare a inceput sa stagneze).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7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68297-FB93-0070-6726-07345DDF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Optimizare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Experimente</a:t>
            </a:r>
            <a:r>
              <a:rPr lang="en-US" dirty="0"/>
              <a:t>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A8EAD39-E472-30C4-CD8F-09C862E5F614}"/>
              </a:ext>
            </a:extLst>
          </p:cNvPr>
          <p:cNvGraphicFramePr>
            <a:graphicFrameLocks/>
          </p:cNvGraphicFramePr>
          <p:nvPr/>
        </p:nvGraphicFramePr>
        <p:xfrm>
          <a:off x="6880610" y="2346600"/>
          <a:ext cx="4737653" cy="2373702"/>
        </p:xfrm>
        <a:graphic>
          <a:graphicData uri="http://schemas.openxmlformats.org/drawingml/2006/table">
            <a:tbl>
              <a:tblPr/>
              <a:tblGrid>
                <a:gridCol w="1011009">
                  <a:extLst>
                    <a:ext uri="{9D8B030D-6E8A-4147-A177-3AD203B41FA5}">
                      <a16:colId xmlns:a16="http://schemas.microsoft.com/office/drawing/2014/main" val="305982612"/>
                    </a:ext>
                  </a:extLst>
                </a:gridCol>
                <a:gridCol w="1064092">
                  <a:extLst>
                    <a:ext uri="{9D8B030D-6E8A-4147-A177-3AD203B41FA5}">
                      <a16:colId xmlns:a16="http://schemas.microsoft.com/office/drawing/2014/main" val="3946760206"/>
                    </a:ext>
                  </a:extLst>
                </a:gridCol>
                <a:gridCol w="903737">
                  <a:extLst>
                    <a:ext uri="{9D8B030D-6E8A-4147-A177-3AD203B41FA5}">
                      <a16:colId xmlns:a16="http://schemas.microsoft.com/office/drawing/2014/main" val="3358790282"/>
                    </a:ext>
                  </a:extLst>
                </a:gridCol>
                <a:gridCol w="816372">
                  <a:extLst>
                    <a:ext uri="{9D8B030D-6E8A-4147-A177-3AD203B41FA5}">
                      <a16:colId xmlns:a16="http://schemas.microsoft.com/office/drawing/2014/main" val="3003001739"/>
                    </a:ext>
                  </a:extLst>
                </a:gridCol>
                <a:gridCol w="942443">
                  <a:extLst>
                    <a:ext uri="{9D8B030D-6E8A-4147-A177-3AD203B41FA5}">
                      <a16:colId xmlns:a16="http://schemas.microsoft.com/office/drawing/2014/main" val="3442253668"/>
                    </a:ext>
                  </a:extLst>
                </a:gridCol>
              </a:tblGrid>
              <a:tr h="32274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Experiment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Modificare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Acuratețe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Obs.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194507"/>
                  </a:ext>
                </a:extLst>
              </a:tr>
              <a:tr h="5138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Baseline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 Simplu (Adam)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85.00%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0.83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Overfitting rapid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356374"/>
                  </a:ext>
                </a:extLst>
              </a:tr>
              <a:tr h="5138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 1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Arhitectură (100, 50)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88.00%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0.86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Extracție mai bună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84915"/>
                  </a:ext>
                </a:extLst>
              </a:tr>
              <a:tr h="32274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 2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Solver SGD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89.00%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0.88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Stabilizare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040389"/>
                  </a:ext>
                </a:extLst>
              </a:tr>
              <a:tr h="5138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 4 (Final)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Augmentare Zgomot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92.44%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0.92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Robust la sinonime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5220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F04F985-F9F3-F5D4-8FB5-1F6697B129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650" y="2193925"/>
            <a:ext cx="4438650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85% Acuratete (Model simplu).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Experimente Cheie: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Adaugare strat ascuns suplimentar (+3%).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Schimbare solver in SGD (+1%).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Augmentare cu Zgomot Gaussian (BEST):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 adaugat zgomot peste vectorii de intrare.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Modelul a devenit robust la sinonime si a sarit la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92.44%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770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CB25D-E0C2-0CDF-7001-E29403B8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Performanta</a:t>
            </a:r>
            <a:r>
              <a:rPr lang="en-US" dirty="0"/>
              <a:t> </a:t>
            </a:r>
            <a:r>
              <a:rPr lang="en-US" dirty="0" err="1"/>
              <a:t>Finala</a:t>
            </a:r>
            <a:endParaRPr lang="en-US" dirty="0"/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84253CBD-C31E-9E49-7DED-6EE5001FC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1663489"/>
            <a:ext cx="4737650" cy="355323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22F226-93C6-85B1-5652-2C1901ECA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650" y="2193925"/>
            <a:ext cx="4438650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Acuratete Finala: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92.44%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 depasit).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0.9263.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Timp de Raspuns: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~2ms per student (Extrem de rapid).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Concluzie Matrice: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Notele de 0.0 si 5.0 sunt detectate aproape perfect.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Confuziile exista doar in zona de mijloc (4.0 vs 5.0).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10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8A42B-E13B-8940-ADFC-F4D2F718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Analiza Erorilor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00F7D5-B2AB-989F-7049-9A290CB5A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Unde greseste modelul?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Confunda uneori nota 5.0 cu 4.0 (~15% cazuri).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 ce? (Analiza Cauzala):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Limitarea TF-IDF: Daca studentul foloseste un sinonim corect care nu a fost in antrenare, distanta matematica creste.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Este un sistem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"Fail-Safe"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Preferam sa fim "prudenti" (sa dam 4 in loc de 5) decat sa dam puncte nemeritate.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42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EFCF54-6A4E-EE16-4C53-8035C046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Aplicatia</a:t>
            </a:r>
            <a:r>
              <a:rPr lang="en-US" dirty="0"/>
              <a:t> Software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4A287D-EF97-1083-633C-D780B7868E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Tehnologie: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Python + Streamlit.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Functionalitati Noi (Etapa 6):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 Manual: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Testare 1-la-1.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Generator Chestionare: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Extrage random 5 intrebari si le corecteaza instant.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Feedback Vizual: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Coduri de culoare (Verde/Galben/Rosu) pentru validare rapida.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98A785-2944-0D52-76CA-778B58AFB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2303071"/>
            <a:ext cx="4737650" cy="227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99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44C39-44B4-2E4C-65FB-2AC88535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Concluzii si Lectii Invatate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D380D6-4B49-6551-1A3F-B7D16AB586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Ce a functionat: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Curatarea datelor a contat mai mult decat complexitatea retelei.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Augmentarea cu zgomot a fost cheia pentru a trece de 90%.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Ce se poate imbunatati: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Trecerea la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BERT/Transformers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pentru a intelege mai bine contextul (dar cu cost de viteza).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Deployment in Cloud.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4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5B6A7-DB97-A4D1-0AB6-4268491C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Documentatie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798C-E983-62AE-8B45-0C2CDA7BC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/>
              <a:t>Link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https://github.com/lungikk/ReteleNeuronaleProiect.git</a:t>
            </a:r>
            <a:endParaRPr lang="en-US" dirty="0"/>
          </a:p>
          <a:p>
            <a:r>
              <a:rPr lang="en-US" dirty="0"/>
              <a:t>Model: </a:t>
            </a:r>
            <a:r>
              <a:rPr lang="en-US" dirty="0" err="1"/>
              <a:t>trained_model.pkl</a:t>
            </a:r>
            <a:endParaRPr lang="en-US" dirty="0"/>
          </a:p>
          <a:p>
            <a:r>
              <a:rPr lang="en-US" dirty="0"/>
              <a:t>Readme: README.md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Multumesc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atentie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42911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709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Google Sans Text</vt:lpstr>
      <vt:lpstr>Office Theme</vt:lpstr>
      <vt:lpstr>Sistem Automat de Notare (ASAG) cu Retele Neuronale</vt:lpstr>
      <vt:lpstr>Obiectivul Proiectului </vt:lpstr>
      <vt:lpstr>Setul de Date</vt:lpstr>
      <vt:lpstr>Arhitectura Sistemului (State Machine)</vt:lpstr>
      <vt:lpstr>Modelul Neuronal (Arhitectura MLP)</vt:lpstr>
      <vt:lpstr>Procesul de Antrenare</vt:lpstr>
      <vt:lpstr>Optimizare si Experimente </vt:lpstr>
      <vt:lpstr>Performanta Finala</vt:lpstr>
      <vt:lpstr>Analiza Erorilor</vt:lpstr>
      <vt:lpstr>Aplicatia Software </vt:lpstr>
      <vt:lpstr>Concluzii si Lectii Invatate</vt:lpstr>
      <vt:lpstr>Documentatie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Andrei-Alexandru LUNGEANU (143204)</dc:creator>
  <cp:lastModifiedBy>Andrei-Alexandru LUNGEANU (143204)</cp:lastModifiedBy>
  <cp:revision>1</cp:revision>
  <dcterms:created xsi:type="dcterms:W3CDTF">2026-01-22T06:21:51Z</dcterms:created>
  <dcterms:modified xsi:type="dcterms:W3CDTF">2026-01-22T07:09:51Z</dcterms:modified>
</cp:coreProperties>
</file>